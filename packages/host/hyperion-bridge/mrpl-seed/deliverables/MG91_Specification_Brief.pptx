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r:id="rId1"/>
  </p:sldMasterIdLst>
  <p:sldIdLst>
    <p:sldId id="256" r:id="rId2"/>
    <p:sldId id="257" r:id="rId3"/>
    <p:sldId id="258" r:id="rId4"/>
    <p:sldId id="259" r:id="rId5"/>
    <p:sldId id="260" r:id="rId6"/>
  </p:sldIdLst>
  <p:sldSzCx cx="9144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r="http://schemas.openxmlformats.org/officeDocument/2006/relationships" preserve="1">
  <p:cSld name="Title and Content">
    <p:spTree>
      <p:nvGrpSpPr>
        <p:cNvPr id="1" name=""/>
        <p:cNvGrpSpPr/>
        <p:nvPr/>
      </p:nvGrpSpPr>
      <p:grpSpPr/>
    </p:spTree>
  </p:cSld>
  <p:clrMapOvr>
    <a:overrideClrMapping xmlns:a="http://schemas.openxmlformats.org/drawingml/2006/main" bg1="lt1" tx1="dk1" bg2="lt2" tx2="dk2" accent1="accent1" accent2="accent2" accent3="accent3" accent4="accent4" accent5="accent5" accent6="hlink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r:id="rId1"/>
  </p:sldLayoutIdLst>
  <p:txStyles>
    <p:titleStyle>
      <a:lvl1pPr xmlns:a="http://schemas.openxmlformats.org/drawingml/2006/main"/>
    </p:titleStyle>
    <p:bodyStyle>
      <a:lvl1pPr xmlns:a="http://schemas.openxmlformats.org/drawingml/2006/main"/>
    </p:bodyStyle>
    <p:otherStyle>
      <a:lvl1pPr xmlns:a="http://schemas.openxmlformats.org/drawingml/2006/main"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9144000" cy="6858000"/>
        </a:xfrm>
      </p:grpSpPr>
      <p:sp>
        <p:nvSpPr>
          <p:cNvPr id="2" name="s2"/>
          <p:cNvSpPr/>
          <p:nvPr/>
        </p:nvSpPr>
        <p:spPr>
          <a:xfrm>
            <a:off x="457200" y="914400"/>
            <a:ext cx="8229600" cy="1828800"/>
          </a:xfrm>
        </p:spPr>
        <p:txBody>
          <a:bodyPr/>
          <a:lstStyle/>
          <a:p>
            <a:r>
              <a:rPr b="1" sz="3200"/>
              <a:t>MG 91 Specification Brief</a:t>
            </a:r>
          </a:p>
          <a:p>
            <a:r>
              <a:rPr sz="1600"/>
              <a:t>Motor Gasoline BS-IV (IS 2796:2008 Amd.1) — Hyperion-generated from corpus DOC-010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hlink" hlink="hlink" folHlink="folHlink"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9144000" cy="6858000"/>
        </a:xfrm>
      </p:grpSpPr>
      <p:sp>
        <p:nvSpPr>
          <p:cNvPr id="3" name="s3"/>
          <p:cNvSpPr/>
          <p:nvPr/>
        </p:nvSpPr>
        <p:spPr>
          <a:xfrm>
            <a:off x="457200" y="457200"/>
            <a:ext cx="8229600" cy="5943600"/>
          </a:xfrm>
        </p:spPr>
        <p:txBody>
          <a:bodyPr/>
          <a:lstStyle/>
          <a:p>
            <a:r>
              <a:rPr b="1" sz="2400"/>
              <a:t>Source identity</a:t>
            </a:r>
          </a:p>
          <a:p>
            <a:r>
              <a:rPr sz="1400"/>
              <a:t>MRPL Specification for Motor Gasoline BS-IV (IS 2796:2008 Amd.1, MG 91) — corpus DOC-010, 2 pages.</a:t>
            </a:r>
          </a:p>
          <a:p>
            <a:r>
              <a:rPr sz="1400"/>
              <a:t>Not an original MRPL-issued document.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hlink" hlink="hlink" folHlink="folHlink"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9144000" cy="6858000"/>
        </a:xfrm>
      </p:grpSpPr>
      <p:sp>
        <p:nvSpPr>
          <p:cNvPr id="4" name="s4"/>
          <p:cNvSpPr/>
          <p:nvPr/>
        </p:nvSpPr>
        <p:spPr>
          <a:xfrm>
            <a:off x="457200" y="457200"/>
            <a:ext cx="8229600" cy="5943600"/>
          </a:xfrm>
        </p:spPr>
        <p:txBody>
          <a:bodyPr/>
          <a:lstStyle/>
          <a:p>
            <a:r>
              <a:rPr b="1" sz="2400"/>
              <a:t>Key specification groups</a:t>
            </a:r>
          </a:p>
          <a:p>
            <a:r>
              <a:rPr sz="1400"/>
              <a:t>Octane: RON 91 min (typ 91.3), MON 81 min (typ 83.5).</a:t>
            </a:r>
          </a:p>
          <a:p>
            <a:r>
              <a:rPr sz="1400"/>
              <a:t>Volatility: E70 10-45, E100 40-70, RVP 60 kPa, VLI 750/950 max.</a:t>
            </a:r>
          </a:p>
          <a:p>
            <a:r>
              <a:rPr sz="1400"/>
              <a:t>Composition: sulphur 50 max, lead 0.005 max, benzene 1.0 max, aromatics 35 max.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hlink" hlink="hlink" folHlink="folHlink"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9144000" cy="6858000"/>
        </a:xfrm>
      </p:grpSpPr>
      <p:sp>
        <p:nvSpPr>
          <p:cNvPr id="5" name="s5"/>
          <p:cNvSpPr/>
          <p:nvPr/>
        </p:nvSpPr>
        <p:spPr>
          <a:xfrm>
            <a:off x="457200" y="457200"/>
            <a:ext cx="8229600" cy="5943600"/>
          </a:xfrm>
        </p:spPr>
        <p:txBody>
          <a:bodyPr/>
          <a:lstStyle/>
          <a:p>
            <a:r>
              <a:rPr b="1" sz="2400"/>
              <a:t>Important parameters</a:t>
            </a:r>
          </a:p>
          <a:p>
            <a:r>
              <a:rPr sz="1400"/>
              <a:t>Density 720-775 kg/m3 (typ 751). FBP 210 max (typ 180). Residue 2 max (typ 0.5).</a:t>
            </a:r>
          </a:p>
          <a:p>
            <a:r>
              <a:rPr sz="1400"/>
              <a:t>Copper corrosion class 1. Oxidation stability 360 min. Ethanol 5 % vol max.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hlink" hlink="hlink" folHlink="folHlink"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9144000" cy="6858000"/>
        </a:xfrm>
      </p:grpSpPr>
      <p:sp>
        <p:nvSpPr>
          <p:cNvPr id="6" name="s6"/>
          <p:cNvSpPr/>
          <p:nvPr/>
        </p:nvSpPr>
        <p:spPr>
          <a:xfrm>
            <a:off x="457200" y="457200"/>
            <a:ext cx="8229600" cy="5943600"/>
          </a:xfrm>
        </p:spPr>
        <p:txBody>
          <a:bodyPr/>
          <a:lstStyle/>
          <a:p>
            <a:r>
              <a:rPr b="1" sz="2400"/>
              <a:t>Takeaways and provenance</a:t>
            </a:r>
          </a:p>
          <a:p>
            <a:r>
              <a:rPr sz="1400"/>
              <a:t>Typical analysis sits inside every limit. Values transcribed 1:1 from DOC-010.</a:t>
            </a:r>
          </a:p>
          <a:p>
            <a:r>
              <a:rPr sz="1400"/>
              <a:t>Hyperion-generated deliverable — verify against IS 2796:2008 before engineering use.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hlink" hlink="hlink" folHlink="folHlink"/>
  </p:clrMapOvr>
</p:sld>
</file>

<file path=ppt/theme/theme1.xml><?xml version="1.0" encoding="utf-8"?>
<a:theme xmlns:a="http://schemas.openxmlformats.org/drawingml/2006/main" name="Hyperion">
  <a:themeElements>
    <a:clrScheme name="Hyperion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0284C7"/>
      </a:accent2>
      <a:accent3>
        <a:srgbClr val="16A34A"/>
      </a:accent3>
      <a:accent4>
        <a:srgbClr val="D97706"/>
      </a:accent4>
      <a:accent5>
        <a:srgbClr val="DC2626"/>
      </a:accent5>
      <a:accent6>
        <a:srgbClr val="7C3AED"/>
      </a:accent6>
      <a:hlink>
        <a:srgbClr val="2563EB"/>
      </a:hlink>
      <a:folHlink>
        <a:srgbClr val="1D4ED8"/>
      </a:folHlink>
    </a:clrScheme>
    <a:fmtScheme name="Hyperion">
      <a:fillStyleLst>
        <a:solidFill>
          <a:schemeClr val="phClr"/>
        </a:solidFill>
      </a:fillStyleLst>
      <a:lnStyleLst>
        <a:ln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