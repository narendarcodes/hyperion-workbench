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i.google.dev/gemma/docs/core" TargetMode="External"/><Relationship Id="rId13" Type="http://schemas.openxmlformats.org/officeDocument/2006/relationships/hyperlink" Target="https://github.com/zai-org/GLM-OCR?utm_source=chatgpt.com" TargetMode="External"/><Relationship Id="rId18" Type="http://schemas.openxmlformats.org/officeDocument/2006/relationships/hyperlink" Target="https://docs.nvidia.com/openshell/get-started/quickstart?utm_source=chatgpt.com" TargetMode="External"/><Relationship Id="rId3" Type="http://schemas.openxmlformats.org/officeDocument/2006/relationships/image" Target="../media/image2.png"/><Relationship Id="rId21" Type="http://schemas.openxmlformats.org/officeDocument/2006/relationships/hyperlink" Target="https://github.com/chroma-core/chroma" TargetMode="External"/><Relationship Id="rId7" Type="http://schemas.openxmlformats.org/officeDocument/2006/relationships/hyperlink" Target="https://modelcontextprotocol.io/" TargetMode="External"/><Relationship Id="rId12" Type="http://schemas.openxmlformats.org/officeDocument/2006/relationships/hyperlink" Target="https://developer.nvidia.com/cuda/?utm_source=chatgpt.com" TargetMode="External"/><Relationship Id="rId17" Type="http://schemas.openxmlformats.org/officeDocument/2006/relationships/hyperlink" Target="https://docs.nvidia.com/openshell/" TargetMode="External"/><Relationship Id="rId25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github.com/NVIDIA/OpenShell?utm_source=chatgpt.com" TargetMode="External"/><Relationship Id="rId20" Type="http://schemas.openxmlformats.org/officeDocument/2006/relationships/hyperlink" Target="https://github.com/facebookresearch/fais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epseek-harness.github.io/deepseek-harness/" TargetMode="External"/><Relationship Id="rId11" Type="http://schemas.openxmlformats.org/officeDocument/2006/relationships/hyperlink" Target="https://github.com/ggml-org/llama.cpp" TargetMode="External"/><Relationship Id="rId24" Type="http://schemas.openxmlformats.org/officeDocument/2006/relationships/hyperlink" Target="https://github.com/modelcontextprotocol/modelcontextprotocol?utm_source=chatgpt.com" TargetMode="External"/><Relationship Id="rId5" Type="http://schemas.openxmlformats.org/officeDocument/2006/relationships/hyperlink" Target="https://github.com/deepseek-ai/deepseek-harness?utm_source=chatgpt.com" TargetMode="External"/><Relationship Id="rId15" Type="http://schemas.openxmlformats.org/officeDocument/2006/relationships/hyperlink" Target="https://ai4bharat.iitm.ac.in/?utm_source=chatgpt.com" TargetMode="External"/><Relationship Id="rId23" Type="http://schemas.openxmlformats.org/officeDocument/2006/relationships/hyperlink" Target="https://mlflow.org/docs/latest/ml/model-registry/" TargetMode="External"/><Relationship Id="rId10" Type="http://schemas.openxmlformats.org/officeDocument/2006/relationships/hyperlink" Target="https://ollama.com/?utm_source=chatgpt.com" TargetMode="External"/><Relationship Id="rId19" Type="http://schemas.openxmlformats.org/officeDocument/2006/relationships/hyperlink" Target="https://www.pinecone.io/learn/retrieval-augmented-generation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huggingface.co/Qwen/Qwen3.5-4B?utm_source=chatgpt.com" TargetMode="External"/><Relationship Id="rId14" Type="http://schemas.openxmlformats.org/officeDocument/2006/relationships/hyperlink" Target="https://github.com/ggml-org/whisper.cpp?utm_source=chatgpt.com" TargetMode="External"/><Relationship Id="rId22" Type="http://schemas.openxmlformats.org/officeDocument/2006/relationships/hyperlink" Target="https://github.com/PrimeIntellect-ai/pri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97392"/>
            <a:ext cx="5924550" cy="416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SIH26117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b="1" dirty="0">
                <a:solidFill>
                  <a:srgbClr val="1B1B27"/>
                </a:solidFill>
                <a:latin typeface="Arial" panose="020B0604020202020204" pitchFamily="34" charset="0"/>
                <a:ea typeface="Raleway" pitchFamily="34" charset="-122"/>
                <a:cs typeface="Arial" panose="020B0604020202020204" pitchFamily="34" charset="0"/>
              </a:rPr>
              <a:t>Sovereign On-Premise Agentic AI Workbench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HYPERION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F0984F-025E-9BF7-2662-01F006813195}"/>
              </a:ext>
            </a:extLst>
          </p:cNvPr>
          <p:cNvSpPr/>
          <p:nvPr/>
        </p:nvSpPr>
        <p:spPr>
          <a:xfrm>
            <a:off x="6607842" y="1244218"/>
            <a:ext cx="2269772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6FE6C-F69D-AA86-C4B5-BDBC3E9BACFA}"/>
              </a:ext>
            </a:extLst>
          </p:cNvPr>
          <p:cNvSpPr/>
          <p:nvPr/>
        </p:nvSpPr>
        <p:spPr>
          <a:xfrm>
            <a:off x="9511295" y="1188788"/>
            <a:ext cx="2269772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C031E7-1D38-7B88-AB9A-61F9D8213D92}"/>
              </a:ext>
            </a:extLst>
          </p:cNvPr>
          <p:cNvSpPr/>
          <p:nvPr/>
        </p:nvSpPr>
        <p:spPr>
          <a:xfrm>
            <a:off x="2199647" y="2980133"/>
            <a:ext cx="2086689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80648B-263E-211A-2841-20D0AE14940E}"/>
              </a:ext>
            </a:extLst>
          </p:cNvPr>
          <p:cNvSpPr/>
          <p:nvPr/>
        </p:nvSpPr>
        <p:spPr>
          <a:xfrm>
            <a:off x="5294583" y="2972743"/>
            <a:ext cx="2269772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8244EC-C918-AD78-7859-87B6338A4E94}"/>
              </a:ext>
            </a:extLst>
          </p:cNvPr>
          <p:cNvSpPr/>
          <p:nvPr/>
        </p:nvSpPr>
        <p:spPr>
          <a:xfrm>
            <a:off x="8389519" y="2920186"/>
            <a:ext cx="2269772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957F2-D4E7-D79A-1E9C-A6E2AA4A1DD9}"/>
              </a:ext>
            </a:extLst>
          </p:cNvPr>
          <p:cNvSpPr/>
          <p:nvPr/>
        </p:nvSpPr>
        <p:spPr>
          <a:xfrm>
            <a:off x="4011627" y="1242268"/>
            <a:ext cx="1923091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77E29-F74E-B94D-B50B-5E24E26430B5}"/>
              </a:ext>
            </a:extLst>
          </p:cNvPr>
          <p:cNvSpPr/>
          <p:nvPr/>
        </p:nvSpPr>
        <p:spPr>
          <a:xfrm>
            <a:off x="1233358" y="1269008"/>
            <a:ext cx="2058041" cy="16044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86" name="Text 0">
            <a:extLst>
              <a:ext uri="{FF2B5EF4-FFF2-40B4-BE49-F238E27FC236}">
                <a16:creationId xmlns:a16="http://schemas.microsoft.com/office/drawing/2014/main" id="{5821946A-F9C5-48F4-6D43-108B9CE54EB8}"/>
              </a:ext>
            </a:extLst>
          </p:cNvPr>
          <p:cNvSpPr/>
          <p:nvPr/>
        </p:nvSpPr>
        <p:spPr>
          <a:xfrm>
            <a:off x="661475" y="74890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Idea — Solution Pipeline</a:t>
            </a:r>
            <a:endParaRPr lang="en-US" sz="2400" dirty="0"/>
          </a:p>
        </p:txBody>
      </p:sp>
      <p:sp>
        <p:nvSpPr>
          <p:cNvPr id="15388" name="Text 1">
            <a:extLst>
              <a:ext uri="{FF2B5EF4-FFF2-40B4-BE49-F238E27FC236}">
                <a16:creationId xmlns:a16="http://schemas.microsoft.com/office/drawing/2014/main" id="{78425D6C-18F1-AA8D-9F5C-3438B2BBA9B3}"/>
              </a:ext>
            </a:extLst>
          </p:cNvPr>
          <p:cNvSpPr/>
          <p:nvPr/>
        </p:nvSpPr>
        <p:spPr>
          <a:xfrm>
            <a:off x="661475" y="1075234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15463" name="Picture 15462">
            <a:extLst>
              <a:ext uri="{FF2B5EF4-FFF2-40B4-BE49-F238E27FC236}">
                <a16:creationId xmlns:a16="http://schemas.microsoft.com/office/drawing/2014/main" id="{804BB5A0-516F-E731-1452-F67245D5C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pic>
        <p:nvPicPr>
          <p:cNvPr id="15523" name="Image 0" descr="preencoded.png">
            <a:extLst>
              <a:ext uri="{FF2B5EF4-FFF2-40B4-BE49-F238E27FC236}">
                <a16:creationId xmlns:a16="http://schemas.microsoft.com/office/drawing/2014/main" id="{3DBA8EBF-0911-5191-78EE-5674FEA6F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7359" y="1734033"/>
            <a:ext cx="1270717" cy="789484"/>
          </a:xfrm>
          <a:prstGeom prst="rect">
            <a:avLst/>
          </a:prstGeom>
        </p:spPr>
      </p:pic>
      <p:sp>
        <p:nvSpPr>
          <p:cNvPr id="15525" name="Text 2">
            <a:extLst>
              <a:ext uri="{FF2B5EF4-FFF2-40B4-BE49-F238E27FC236}">
                <a16:creationId xmlns:a16="http://schemas.microsoft.com/office/drawing/2014/main" id="{06E9F70F-1278-2A90-253C-C8058A080863}"/>
              </a:ext>
            </a:extLst>
          </p:cNvPr>
          <p:cNvSpPr/>
          <p:nvPr/>
        </p:nvSpPr>
        <p:spPr>
          <a:xfrm>
            <a:off x="1349738" y="1408509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• CAPTURE</a:t>
            </a:r>
            <a:endParaRPr lang="en-US" sz="1200" dirty="0"/>
          </a:p>
        </p:txBody>
      </p:sp>
      <p:sp>
        <p:nvSpPr>
          <p:cNvPr id="15527" name="Text 3">
            <a:extLst>
              <a:ext uri="{FF2B5EF4-FFF2-40B4-BE49-F238E27FC236}">
                <a16:creationId xmlns:a16="http://schemas.microsoft.com/office/drawing/2014/main" id="{D5E90439-C340-58C2-9433-DFCF34F1A9C4}"/>
              </a:ext>
            </a:extLst>
          </p:cNvPr>
          <p:cNvSpPr/>
          <p:nvPr/>
        </p:nvSpPr>
        <p:spPr>
          <a:xfrm>
            <a:off x="1349738" y="1658045"/>
            <a:ext cx="1941662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Ingest multimodal industrial inputs: documents (PDFs, scanned reports), images (photos, diagrams),         audio (inspection recordings) and code artifacts. Capture focuses on fidelity, page layout and provenance metadata.       </a:t>
            </a:r>
            <a:endParaRPr lang="en-US" sz="950" dirty="0"/>
          </a:p>
        </p:txBody>
      </p:sp>
      <p:pic>
        <p:nvPicPr>
          <p:cNvPr id="15529" name="Image 1" descr="preencoded.png">
            <a:extLst>
              <a:ext uri="{FF2B5EF4-FFF2-40B4-BE49-F238E27FC236}">
                <a16:creationId xmlns:a16="http://schemas.microsoft.com/office/drawing/2014/main" id="{FBC9E444-291D-843B-BE05-5F4DD3A25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394" y="1832041"/>
            <a:ext cx="918297" cy="567558"/>
          </a:xfrm>
          <a:prstGeom prst="rect">
            <a:avLst/>
          </a:prstGeom>
        </p:spPr>
      </p:pic>
      <p:sp>
        <p:nvSpPr>
          <p:cNvPr id="15531" name="Text 4">
            <a:extLst>
              <a:ext uri="{FF2B5EF4-FFF2-40B4-BE49-F238E27FC236}">
                <a16:creationId xmlns:a16="http://schemas.microsoft.com/office/drawing/2014/main" id="{7B4AFCF4-AE0B-0492-11CC-DEB373F01A86}"/>
              </a:ext>
            </a:extLst>
          </p:cNvPr>
          <p:cNvSpPr/>
          <p:nvPr/>
        </p:nvSpPr>
        <p:spPr>
          <a:xfrm>
            <a:off x="4095945" y="1408509"/>
            <a:ext cx="19417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 • UNDERSTAND</a:t>
            </a:r>
            <a:endParaRPr lang="en-US" sz="1200" dirty="0"/>
          </a:p>
        </p:txBody>
      </p:sp>
      <p:sp>
        <p:nvSpPr>
          <p:cNvPr id="15533" name="Text 5">
            <a:extLst>
              <a:ext uri="{FF2B5EF4-FFF2-40B4-BE49-F238E27FC236}">
                <a16:creationId xmlns:a16="http://schemas.microsoft.com/office/drawing/2014/main" id="{114E7A1D-6FFE-250D-8121-FD356F1B8EB1}"/>
              </a:ext>
            </a:extLst>
          </p:cNvPr>
          <p:cNvSpPr/>
          <p:nvPr/>
        </p:nvSpPr>
        <p:spPr>
          <a:xfrm>
            <a:off x="4095945" y="1658045"/>
            <a:ext cx="1941762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Multimodal Pipeline uses GLM-OCR + Whisper.cpp + local image/document processing →         extract text, table structures, form fields, layouts, handwritten fragments and audio transcripts into a structured local context.       </a:t>
            </a:r>
            <a:endParaRPr lang="en-US" sz="950" dirty="0"/>
          </a:p>
        </p:txBody>
      </p:sp>
      <p:pic>
        <p:nvPicPr>
          <p:cNvPr id="15535" name="Image 2" descr="preencoded.png">
            <a:extLst>
              <a:ext uri="{FF2B5EF4-FFF2-40B4-BE49-F238E27FC236}">
                <a16:creationId xmlns:a16="http://schemas.microsoft.com/office/drawing/2014/main" id="{E4B2C983-886E-8D62-35EB-2BD0EC503B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9760" y="1866079"/>
            <a:ext cx="1042484" cy="644312"/>
          </a:xfrm>
          <a:prstGeom prst="rect">
            <a:avLst/>
          </a:prstGeom>
        </p:spPr>
      </p:pic>
      <p:sp>
        <p:nvSpPr>
          <p:cNvPr id="15537" name="Text 6">
            <a:extLst>
              <a:ext uri="{FF2B5EF4-FFF2-40B4-BE49-F238E27FC236}">
                <a16:creationId xmlns:a16="http://schemas.microsoft.com/office/drawing/2014/main" id="{8E7E7564-2ADA-D93E-B36D-ED04709E23D0}"/>
              </a:ext>
            </a:extLst>
          </p:cNvPr>
          <p:cNvSpPr/>
          <p:nvPr/>
        </p:nvSpPr>
        <p:spPr>
          <a:xfrm>
            <a:off x="6842251" y="1408509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 • ROUTE</a:t>
            </a:r>
            <a:endParaRPr lang="en-US" sz="1200" dirty="0"/>
          </a:p>
        </p:txBody>
      </p:sp>
      <p:sp>
        <p:nvSpPr>
          <p:cNvPr id="15539" name="Text 7">
            <a:extLst>
              <a:ext uri="{FF2B5EF4-FFF2-40B4-BE49-F238E27FC236}">
                <a16:creationId xmlns:a16="http://schemas.microsoft.com/office/drawing/2014/main" id="{D91F3199-026D-EB1D-0274-520A1AC0F720}"/>
              </a:ext>
            </a:extLst>
          </p:cNvPr>
          <p:cNvSpPr/>
          <p:nvPr/>
        </p:nvSpPr>
        <p:spPr>
          <a:xfrm>
            <a:off x="6842251" y="1658045"/>
            <a:ext cx="19416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Intelligent Model Router uses Projective + Model Registry + Resource-Aware Scheduling →         match task, modality and available compute to the optimal on‑premise model for inference.       </a:t>
            </a:r>
            <a:endParaRPr lang="en-US" sz="950" dirty="0"/>
          </a:p>
        </p:txBody>
      </p:sp>
      <p:pic>
        <p:nvPicPr>
          <p:cNvPr id="15541" name="Image 3" descr="preencoded.png">
            <a:extLst>
              <a:ext uri="{FF2B5EF4-FFF2-40B4-BE49-F238E27FC236}">
                <a16:creationId xmlns:a16="http://schemas.microsoft.com/office/drawing/2014/main" id="{8C1F4727-AD77-0B7C-A5CE-2FA6C3BC69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0343" y="1782715"/>
            <a:ext cx="958066" cy="592137"/>
          </a:xfrm>
          <a:prstGeom prst="rect">
            <a:avLst/>
          </a:prstGeom>
        </p:spPr>
      </p:pic>
      <p:sp>
        <p:nvSpPr>
          <p:cNvPr id="15543" name="Text 8">
            <a:extLst>
              <a:ext uri="{FF2B5EF4-FFF2-40B4-BE49-F238E27FC236}">
                <a16:creationId xmlns:a16="http://schemas.microsoft.com/office/drawing/2014/main" id="{27ABD697-8031-7F17-BDBE-DDD090A0D55F}"/>
              </a:ext>
            </a:extLst>
          </p:cNvPr>
          <p:cNvSpPr/>
          <p:nvPr/>
        </p:nvSpPr>
        <p:spPr>
          <a:xfrm>
            <a:off x="9588459" y="1408509"/>
            <a:ext cx="19417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 • GROUND</a:t>
            </a:r>
            <a:endParaRPr lang="en-US" sz="1200" dirty="0"/>
          </a:p>
        </p:txBody>
      </p:sp>
      <p:sp>
        <p:nvSpPr>
          <p:cNvPr id="15545" name="Text 9">
            <a:extLst>
              <a:ext uri="{FF2B5EF4-FFF2-40B4-BE49-F238E27FC236}">
                <a16:creationId xmlns:a16="http://schemas.microsoft.com/office/drawing/2014/main" id="{E0C37978-AE0B-36DF-77C6-D3F008690C60}"/>
              </a:ext>
            </a:extLst>
          </p:cNvPr>
          <p:cNvSpPr/>
          <p:nvPr/>
        </p:nvSpPr>
        <p:spPr>
          <a:xfrm>
            <a:off x="9588459" y="1658045"/>
            <a:ext cx="19417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Local Knowledge Layer (RAG + Vector DB) with version / authority / permission metadata →         retrieve authorized evidence and authoritative context for grounding model outputs.       </a:t>
            </a:r>
            <a:endParaRPr lang="en-US" sz="950" dirty="0"/>
          </a:p>
        </p:txBody>
      </p:sp>
      <p:pic>
        <p:nvPicPr>
          <p:cNvPr id="15547" name="Image 4" descr="preencoded.png">
            <a:extLst>
              <a:ext uri="{FF2B5EF4-FFF2-40B4-BE49-F238E27FC236}">
                <a16:creationId xmlns:a16="http://schemas.microsoft.com/office/drawing/2014/main" id="{22853F88-8325-D847-20A6-F76105326B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625" y="3270144"/>
            <a:ext cx="1152704" cy="712434"/>
          </a:xfrm>
          <a:prstGeom prst="rect">
            <a:avLst/>
          </a:prstGeom>
        </p:spPr>
      </p:pic>
      <p:sp>
        <p:nvSpPr>
          <p:cNvPr id="15549" name="Text 10">
            <a:extLst>
              <a:ext uri="{FF2B5EF4-FFF2-40B4-BE49-F238E27FC236}">
                <a16:creationId xmlns:a16="http://schemas.microsoft.com/office/drawing/2014/main" id="{2D8EDFE4-9AD1-FC07-35E5-DA9E1A736B61}"/>
              </a:ext>
            </a:extLst>
          </p:cNvPr>
          <p:cNvSpPr/>
          <p:nvPr/>
        </p:nvSpPr>
        <p:spPr>
          <a:xfrm>
            <a:off x="2344674" y="3032212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05 • ANALYZE</a:t>
            </a:r>
            <a:endParaRPr lang="en-US" sz="1200" dirty="0"/>
          </a:p>
        </p:txBody>
      </p:sp>
      <p:sp>
        <p:nvSpPr>
          <p:cNvPr id="15551" name="Text 11">
            <a:extLst>
              <a:ext uri="{FF2B5EF4-FFF2-40B4-BE49-F238E27FC236}">
                <a16:creationId xmlns:a16="http://schemas.microsoft.com/office/drawing/2014/main" id="{43AEDC93-548D-B4B2-A262-EE7C7B4E58E6}"/>
              </a:ext>
            </a:extLst>
          </p:cNvPr>
          <p:cNvSpPr/>
          <p:nvPr/>
        </p:nvSpPr>
        <p:spPr>
          <a:xfrm>
            <a:off x="2344674" y="3281748"/>
            <a:ext cx="1941662" cy="121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Agent Orchestrator uses DeepSeek Harness, MCP and Python tools →         perform bounded, tool-based multi-step analysis (calculations, simulations, code generation) within defined safety envelopes.       </a:t>
            </a:r>
            <a:endParaRPr lang="en-US" sz="950" dirty="0"/>
          </a:p>
        </p:txBody>
      </p:sp>
      <p:pic>
        <p:nvPicPr>
          <p:cNvPr id="15553" name="Image 5" descr="preencoded.png">
            <a:extLst>
              <a:ext uri="{FF2B5EF4-FFF2-40B4-BE49-F238E27FC236}">
                <a16:creationId xmlns:a16="http://schemas.microsoft.com/office/drawing/2014/main" id="{A5089EEB-E7B9-C3F7-38F8-84948324BD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5332" y="3263106"/>
            <a:ext cx="1124989" cy="695304"/>
          </a:xfrm>
          <a:prstGeom prst="rect">
            <a:avLst/>
          </a:prstGeom>
        </p:spPr>
      </p:pic>
      <p:sp>
        <p:nvSpPr>
          <p:cNvPr id="15555" name="Text 12">
            <a:extLst>
              <a:ext uri="{FF2B5EF4-FFF2-40B4-BE49-F238E27FC236}">
                <a16:creationId xmlns:a16="http://schemas.microsoft.com/office/drawing/2014/main" id="{848B31BF-FD7E-2C2C-FA42-CA1876FFD1A7}"/>
              </a:ext>
            </a:extLst>
          </p:cNvPr>
          <p:cNvSpPr/>
          <p:nvPr/>
        </p:nvSpPr>
        <p:spPr>
          <a:xfrm>
            <a:off x="5465625" y="3069332"/>
            <a:ext cx="19417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06 • VERIFY</a:t>
            </a:r>
            <a:endParaRPr lang="en-US" sz="1200" dirty="0"/>
          </a:p>
        </p:txBody>
      </p:sp>
      <p:sp>
        <p:nvSpPr>
          <p:cNvPr id="15557" name="Text 13">
            <a:extLst>
              <a:ext uri="{FF2B5EF4-FFF2-40B4-BE49-F238E27FC236}">
                <a16:creationId xmlns:a16="http://schemas.microsoft.com/office/drawing/2014/main" id="{0A90E094-8170-324C-A844-E8E94319A66B}"/>
              </a:ext>
            </a:extLst>
          </p:cNvPr>
          <p:cNvSpPr/>
          <p:nvPr/>
        </p:nvSpPr>
        <p:spPr>
          <a:xfrm>
            <a:off x="5465625" y="3318868"/>
            <a:ext cx="19417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Human Verification via risk-based verification and evidence mapping →         escalate high-risk claims for human review; map outputs back to source evidence for auditability.       </a:t>
            </a:r>
            <a:endParaRPr lang="en-US" sz="950" dirty="0"/>
          </a:p>
        </p:txBody>
      </p:sp>
      <p:pic>
        <p:nvPicPr>
          <p:cNvPr id="15559" name="Image 6" descr="preencoded.png">
            <a:extLst>
              <a:ext uri="{FF2B5EF4-FFF2-40B4-BE49-F238E27FC236}">
                <a16:creationId xmlns:a16="http://schemas.microsoft.com/office/drawing/2014/main" id="{08623165-A967-C4CE-2670-778CA6230D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6024" y="3157388"/>
            <a:ext cx="959136" cy="592798"/>
          </a:xfrm>
          <a:prstGeom prst="rect">
            <a:avLst/>
          </a:prstGeom>
        </p:spPr>
      </p:pic>
      <p:sp>
        <p:nvSpPr>
          <p:cNvPr id="15561" name="Text 14">
            <a:extLst>
              <a:ext uri="{FF2B5EF4-FFF2-40B4-BE49-F238E27FC236}">
                <a16:creationId xmlns:a16="http://schemas.microsoft.com/office/drawing/2014/main" id="{BF05E880-FDD7-AA7D-4A11-43833B2D4FC4}"/>
              </a:ext>
            </a:extLst>
          </p:cNvPr>
          <p:cNvSpPr/>
          <p:nvPr/>
        </p:nvSpPr>
        <p:spPr>
          <a:xfrm>
            <a:off x="8540464" y="3059509"/>
            <a:ext cx="19416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07 • DELIVER</a:t>
            </a:r>
            <a:endParaRPr lang="en-US" sz="1200" dirty="0"/>
          </a:p>
        </p:txBody>
      </p:sp>
      <p:sp>
        <p:nvSpPr>
          <p:cNvPr id="15563" name="Text 15">
            <a:extLst>
              <a:ext uri="{FF2B5EF4-FFF2-40B4-BE49-F238E27FC236}">
                <a16:creationId xmlns:a16="http://schemas.microsoft.com/office/drawing/2014/main" id="{FA75CCB5-84F6-BFA5-1485-7E18B2E665FA}"/>
              </a:ext>
            </a:extLst>
          </p:cNvPr>
          <p:cNvSpPr/>
          <p:nvPr/>
        </p:nvSpPr>
        <p:spPr>
          <a:xfrm>
            <a:off x="8501346" y="3318469"/>
            <a:ext cx="194166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Controlled output generation: DOCX, XLSX, working code and a complete audit trace — all produced and stored on‑premise with         provenance and versioning.       </a:t>
            </a:r>
            <a:endParaRPr lang="en-US" sz="950" dirty="0"/>
          </a:p>
        </p:txBody>
      </p:sp>
      <p:sp>
        <p:nvSpPr>
          <p:cNvPr id="15565" name="Shape 16">
            <a:extLst>
              <a:ext uri="{FF2B5EF4-FFF2-40B4-BE49-F238E27FC236}">
                <a16:creationId xmlns:a16="http://schemas.microsoft.com/office/drawing/2014/main" id="{EF13F464-A260-7B3C-FA7B-5D147DBCD6CF}"/>
              </a:ext>
            </a:extLst>
          </p:cNvPr>
          <p:cNvSpPr/>
          <p:nvPr/>
        </p:nvSpPr>
        <p:spPr>
          <a:xfrm>
            <a:off x="661475" y="4660007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5567" name="Text 17">
            <a:extLst>
              <a:ext uri="{FF2B5EF4-FFF2-40B4-BE49-F238E27FC236}">
                <a16:creationId xmlns:a16="http://schemas.microsoft.com/office/drawing/2014/main" id="{32CA37A8-98C0-A9F9-2FD1-D3029B49F852}"/>
              </a:ext>
            </a:extLst>
          </p:cNvPr>
          <p:cNvSpPr/>
          <p:nvPr/>
        </p:nvSpPr>
        <p:spPr>
          <a:xfrm>
            <a:off x="661475" y="4843165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is different</a:t>
            </a:r>
            <a:endParaRPr lang="en-US" sz="1200" dirty="0"/>
          </a:p>
        </p:txBody>
      </p:sp>
      <p:sp>
        <p:nvSpPr>
          <p:cNvPr id="15569" name="Shape 18">
            <a:extLst>
              <a:ext uri="{FF2B5EF4-FFF2-40B4-BE49-F238E27FC236}">
                <a16:creationId xmlns:a16="http://schemas.microsoft.com/office/drawing/2014/main" id="{F5D7728D-3CB8-DD15-51C3-17339DB9A8B9}"/>
              </a:ext>
            </a:extLst>
          </p:cNvPr>
          <p:cNvSpPr/>
          <p:nvPr/>
        </p:nvSpPr>
        <p:spPr>
          <a:xfrm>
            <a:off x="661475" y="5176441"/>
            <a:ext cx="2647388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71" name="Text 19">
            <a:extLst>
              <a:ext uri="{FF2B5EF4-FFF2-40B4-BE49-F238E27FC236}">
                <a16:creationId xmlns:a16="http://schemas.microsoft.com/office/drawing/2014/main" id="{873C34A5-24D1-065F-7C55-E4DA7258F00D}"/>
              </a:ext>
            </a:extLst>
          </p:cNvPr>
          <p:cNvSpPr/>
          <p:nvPr/>
        </p:nvSpPr>
        <p:spPr>
          <a:xfrm>
            <a:off x="791845" y="5306814"/>
            <a:ext cx="23866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SOVEREIGN</a:t>
            </a:r>
            <a:endParaRPr lang="en-US" sz="1200" dirty="0"/>
          </a:p>
        </p:txBody>
      </p:sp>
      <p:sp>
        <p:nvSpPr>
          <p:cNvPr id="15573" name="Text 20">
            <a:extLst>
              <a:ext uri="{FF2B5EF4-FFF2-40B4-BE49-F238E27FC236}">
                <a16:creationId xmlns:a16="http://schemas.microsoft.com/office/drawing/2014/main" id="{1B1E1B7E-5EEE-104F-BD8D-1F09F1C1A23B}"/>
              </a:ext>
            </a:extLst>
          </p:cNvPr>
          <p:cNvSpPr/>
          <p:nvPr/>
        </p:nvSpPr>
        <p:spPr>
          <a:xfrm>
            <a:off x="791845" y="5556349"/>
            <a:ext cx="23866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inference and data storage occur on‑premise under customer control; no uncontrolled cloud model calls.</a:t>
            </a:r>
            <a:endParaRPr lang="en-US" sz="950" dirty="0"/>
          </a:p>
        </p:txBody>
      </p:sp>
      <p:sp>
        <p:nvSpPr>
          <p:cNvPr id="15575" name="Shape 21">
            <a:extLst>
              <a:ext uri="{FF2B5EF4-FFF2-40B4-BE49-F238E27FC236}">
                <a16:creationId xmlns:a16="http://schemas.microsoft.com/office/drawing/2014/main" id="{B38DEDB8-2B0C-CCB1-545B-94CE1F5FD195}"/>
              </a:ext>
            </a:extLst>
          </p:cNvPr>
          <p:cNvSpPr/>
          <p:nvPr/>
        </p:nvSpPr>
        <p:spPr>
          <a:xfrm>
            <a:off x="3401828" y="5176441"/>
            <a:ext cx="2647487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77" name="Text 22">
            <a:extLst>
              <a:ext uri="{FF2B5EF4-FFF2-40B4-BE49-F238E27FC236}">
                <a16:creationId xmlns:a16="http://schemas.microsoft.com/office/drawing/2014/main" id="{F0638EE9-FEAA-6F3E-8E18-DF43256273E7}"/>
              </a:ext>
            </a:extLst>
          </p:cNvPr>
          <p:cNvSpPr/>
          <p:nvPr/>
        </p:nvSpPr>
        <p:spPr>
          <a:xfrm>
            <a:off x="3532198" y="5306814"/>
            <a:ext cx="23867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MULTI‑MODEL</a:t>
            </a:r>
            <a:endParaRPr lang="en-US" sz="1200" dirty="0"/>
          </a:p>
        </p:txBody>
      </p:sp>
      <p:sp>
        <p:nvSpPr>
          <p:cNvPr id="15579" name="Text 23">
            <a:extLst>
              <a:ext uri="{FF2B5EF4-FFF2-40B4-BE49-F238E27FC236}">
                <a16:creationId xmlns:a16="http://schemas.microsoft.com/office/drawing/2014/main" id="{E6CD77FC-3E5A-C381-98D6-20F9CFC218A4}"/>
              </a:ext>
            </a:extLst>
          </p:cNvPr>
          <p:cNvSpPr/>
          <p:nvPr/>
        </p:nvSpPr>
        <p:spPr>
          <a:xfrm>
            <a:off x="3532198" y="5556349"/>
            <a:ext cx="23867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 selects best-fit local models per task — small to medium open-weight models optimised for available compute.</a:t>
            </a:r>
            <a:endParaRPr lang="en-US" sz="950" dirty="0"/>
          </a:p>
        </p:txBody>
      </p:sp>
      <p:sp>
        <p:nvSpPr>
          <p:cNvPr id="15581" name="Shape 24">
            <a:extLst>
              <a:ext uri="{FF2B5EF4-FFF2-40B4-BE49-F238E27FC236}">
                <a16:creationId xmlns:a16="http://schemas.microsoft.com/office/drawing/2014/main" id="{20ADFF75-46BF-4A9E-2B14-23D085D40B32}"/>
              </a:ext>
            </a:extLst>
          </p:cNvPr>
          <p:cNvSpPr/>
          <p:nvPr/>
        </p:nvSpPr>
        <p:spPr>
          <a:xfrm>
            <a:off x="6142281" y="5176441"/>
            <a:ext cx="2647487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83" name="Text 25">
            <a:extLst>
              <a:ext uri="{FF2B5EF4-FFF2-40B4-BE49-F238E27FC236}">
                <a16:creationId xmlns:a16="http://schemas.microsoft.com/office/drawing/2014/main" id="{34A172AD-0242-8BE9-D5E9-7D07EFAA74C4}"/>
              </a:ext>
            </a:extLst>
          </p:cNvPr>
          <p:cNvSpPr/>
          <p:nvPr/>
        </p:nvSpPr>
        <p:spPr>
          <a:xfrm>
            <a:off x="6272651" y="5306814"/>
            <a:ext cx="23867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</a:t>
            </a:r>
            <a:endParaRPr lang="en-US" sz="1200" dirty="0"/>
          </a:p>
        </p:txBody>
      </p:sp>
      <p:sp>
        <p:nvSpPr>
          <p:cNvPr id="15585" name="Text 26">
            <a:extLst>
              <a:ext uri="{FF2B5EF4-FFF2-40B4-BE49-F238E27FC236}">
                <a16:creationId xmlns:a16="http://schemas.microsoft.com/office/drawing/2014/main" id="{6580303A-4511-FA09-55CE-B583F007453E}"/>
              </a:ext>
            </a:extLst>
          </p:cNvPr>
          <p:cNvSpPr/>
          <p:nvPr/>
        </p:nvSpPr>
        <p:spPr>
          <a:xfrm>
            <a:off x="6272651" y="5556349"/>
            <a:ext cx="23867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Bounded, multi-step tool execution with explicit evidence attachments and failure modes.</a:t>
            </a:r>
            <a:endParaRPr lang="en-US" sz="950" dirty="0"/>
          </a:p>
        </p:txBody>
      </p:sp>
      <p:sp>
        <p:nvSpPr>
          <p:cNvPr id="15587" name="Shape 27">
            <a:extLst>
              <a:ext uri="{FF2B5EF4-FFF2-40B4-BE49-F238E27FC236}">
                <a16:creationId xmlns:a16="http://schemas.microsoft.com/office/drawing/2014/main" id="{F542A1C0-FB8F-F073-D878-1B994D8B8025}"/>
              </a:ext>
            </a:extLst>
          </p:cNvPr>
          <p:cNvSpPr/>
          <p:nvPr/>
        </p:nvSpPr>
        <p:spPr>
          <a:xfrm>
            <a:off x="8882733" y="5176441"/>
            <a:ext cx="2647487" cy="1031180"/>
          </a:xfrm>
          <a:prstGeom prst="roundRect">
            <a:avLst>
              <a:gd name="adj" fmla="val 50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589" name="Text 28">
            <a:extLst>
              <a:ext uri="{FF2B5EF4-FFF2-40B4-BE49-F238E27FC236}">
                <a16:creationId xmlns:a16="http://schemas.microsoft.com/office/drawing/2014/main" id="{4240C25D-8A60-D4DB-DBCB-FDC02FDB95F1}"/>
              </a:ext>
            </a:extLst>
          </p:cNvPr>
          <p:cNvSpPr/>
          <p:nvPr/>
        </p:nvSpPr>
        <p:spPr>
          <a:xfrm>
            <a:off x="9013103" y="5306814"/>
            <a:ext cx="238674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EVIDENCE‑FIRST</a:t>
            </a:r>
            <a:endParaRPr lang="en-US" sz="1200" dirty="0"/>
          </a:p>
        </p:txBody>
      </p:sp>
      <p:sp>
        <p:nvSpPr>
          <p:cNvPr id="15591" name="Text 29">
            <a:extLst>
              <a:ext uri="{FF2B5EF4-FFF2-40B4-BE49-F238E27FC236}">
                <a16:creationId xmlns:a16="http://schemas.microsoft.com/office/drawing/2014/main" id="{7378907F-9629-F7FB-FFFE-DD5A0378C364}"/>
              </a:ext>
            </a:extLst>
          </p:cNvPr>
          <p:cNvSpPr/>
          <p:nvPr/>
        </p:nvSpPr>
        <p:spPr>
          <a:xfrm>
            <a:off x="9013103" y="5556349"/>
            <a:ext cx="238674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claim maps to retrieved evidence with metadata (version, authority, permission) before human sign-off.</a:t>
            </a:r>
            <a:endParaRPr lang="en-US" sz="950" dirty="0"/>
          </a:p>
        </p:txBody>
      </p:sp>
      <p:pic>
        <p:nvPicPr>
          <p:cNvPr id="15593" name="Picture 15592">
            <a:extLst>
              <a:ext uri="{FF2B5EF4-FFF2-40B4-BE49-F238E27FC236}">
                <a16:creationId xmlns:a16="http://schemas.microsoft.com/office/drawing/2014/main" id="{007BCF76-6198-203E-A1AD-8CC530751D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648" y="4650661"/>
            <a:ext cx="11577266" cy="1628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Approach-Layered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6349D2-E31D-CBF7-0C3A-8E644FD8C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B528F79-AB43-855D-E7BB-1E122F34AD82}"/>
              </a:ext>
            </a:extLst>
          </p:cNvPr>
          <p:cNvSpPr/>
          <p:nvPr/>
        </p:nvSpPr>
        <p:spPr>
          <a:xfrm>
            <a:off x="661475" y="596404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A3A9DD7-163C-871D-5151-D4C618E76116}"/>
              </a:ext>
            </a:extLst>
          </p:cNvPr>
          <p:cNvSpPr/>
          <p:nvPr/>
        </p:nvSpPr>
        <p:spPr>
          <a:xfrm>
            <a:off x="661475" y="1072059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HYPERION architecture is organized as a vertically layered system where each layer has a clear technical role:     input ingestion, multimodal understanding, agent orchestration, model routing, local inference and grounding.   </a:t>
            </a:r>
            <a:endParaRPr lang="en-US" sz="8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F30B7D4-8D12-E64B-5D98-8CAAF1F6B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7392" y="1499665"/>
            <a:ext cx="7023916" cy="3774281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D2607006-3DB7-A95B-168B-0CC2CBFBD37F}"/>
              </a:ext>
            </a:extLst>
          </p:cNvPr>
          <p:cNvSpPr/>
          <p:nvPr/>
        </p:nvSpPr>
        <p:spPr>
          <a:xfrm>
            <a:off x="-332832" y="1677748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 Input</a:t>
            </a:r>
            <a:endParaRPr lang="en-US" sz="12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390DCDE-CEE3-4769-7274-070E182A09F5}"/>
              </a:ext>
            </a:extLst>
          </p:cNvPr>
          <p:cNvSpPr/>
          <p:nvPr/>
        </p:nvSpPr>
        <p:spPr>
          <a:xfrm>
            <a:off x="27613" y="1891736"/>
            <a:ext cx="1681368" cy="262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Top-level engineer/manager directives and prompts.</a:t>
            </a:r>
            <a:endParaRPr lang="en-US" sz="1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EBDF0744-859A-DE04-EBC9-372B36ABFB2C}"/>
              </a:ext>
            </a:extLst>
          </p:cNvPr>
          <p:cNvSpPr/>
          <p:nvPr/>
        </p:nvSpPr>
        <p:spPr>
          <a:xfrm>
            <a:off x="5036396" y="2173443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Pipeline</a:t>
            </a:r>
            <a:endParaRPr lang="en-US" sz="12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58BBD4B-916D-54F1-051B-955B6CC9798C}"/>
              </a:ext>
            </a:extLst>
          </p:cNvPr>
          <p:cNvSpPr/>
          <p:nvPr/>
        </p:nvSpPr>
        <p:spPr>
          <a:xfrm>
            <a:off x="5036396" y="2428658"/>
            <a:ext cx="1681368" cy="262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GLM-OCR and Whisper.cpp process text and audio.</a:t>
            </a:r>
            <a:endParaRPr lang="en-US" sz="10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2CA47CF-F98E-B1CA-D2E6-7681CAA73F24}"/>
              </a:ext>
            </a:extLst>
          </p:cNvPr>
          <p:cNvSpPr/>
          <p:nvPr/>
        </p:nvSpPr>
        <p:spPr>
          <a:xfrm>
            <a:off x="119452" y="2724494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Orchestration</a:t>
            </a:r>
            <a:endParaRPr lang="en-US" sz="125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47A8CED6-5705-E8E9-39BD-6FACFAB165A9}"/>
              </a:ext>
            </a:extLst>
          </p:cNvPr>
          <p:cNvSpPr/>
          <p:nvPr/>
        </p:nvSpPr>
        <p:spPr>
          <a:xfrm>
            <a:off x="27613" y="2979708"/>
            <a:ext cx="1681368" cy="39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DeepSeek Harness, MCP and Python tools coordinate actions.</a:t>
            </a:r>
            <a:endParaRPr lang="en-US" sz="10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A084953-2FEE-B5DF-284A-6DB9CB2D9D08}"/>
              </a:ext>
            </a:extLst>
          </p:cNvPr>
          <p:cNvSpPr/>
          <p:nvPr/>
        </p:nvSpPr>
        <p:spPr>
          <a:xfrm>
            <a:off x="5036396" y="3339127"/>
            <a:ext cx="1589529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Router</a:t>
            </a:r>
            <a:endParaRPr lang="en-US" sz="125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7673A51E-E825-5B4E-B7CE-0B01C60D602D}"/>
              </a:ext>
            </a:extLst>
          </p:cNvPr>
          <p:cNvSpPr/>
          <p:nvPr/>
        </p:nvSpPr>
        <p:spPr>
          <a:xfrm>
            <a:off x="5036396" y="3594341"/>
            <a:ext cx="1681368" cy="393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Projective routing, registry and resource-aware scheduling.</a:t>
            </a:r>
            <a:endParaRPr lang="en-US" sz="10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A80A37B-BF49-FB09-F75E-185AA2812DEC}"/>
              </a:ext>
            </a:extLst>
          </p:cNvPr>
          <p:cNvSpPr/>
          <p:nvPr/>
        </p:nvSpPr>
        <p:spPr>
          <a:xfrm>
            <a:off x="27613" y="3918437"/>
            <a:ext cx="1681368" cy="39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Inference &amp; Grounding</a:t>
            </a:r>
            <a:endParaRPr lang="en-US" sz="125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3264338F-FBF2-5472-88FA-0037557338F5}"/>
              </a:ext>
            </a:extLst>
          </p:cNvPr>
          <p:cNvSpPr/>
          <p:nvPr/>
        </p:nvSpPr>
        <p:spPr>
          <a:xfrm>
            <a:off x="27613" y="4372347"/>
            <a:ext cx="1681368" cy="39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Gemma/Qwen runtimes (Ollama/llama.cpp/CUDA) with local RAG vector DB.</a:t>
            </a:r>
            <a:endParaRPr lang="en-US" sz="10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3ED9437-4197-0D77-6C6B-CEE86C950141}"/>
              </a:ext>
            </a:extLst>
          </p:cNvPr>
          <p:cNvSpPr/>
          <p:nvPr/>
        </p:nvSpPr>
        <p:spPr>
          <a:xfrm>
            <a:off x="344129" y="5145384"/>
            <a:ext cx="11582400" cy="121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Layer descriptions (concise):     - Layer 1 — Industrial Input: Engineer/Manager submits PDFs, images, scans, audio, spreadsheets or code.     - Layer 2 — Multimodal Pipeline (Understand): GLM‑OCR, Whisper.cpp, local parsing convert raw inputs into structured local context (text, tables, layout, timestamps, provenance).     - Layer 3 — Agent Orchestration (Orchestrate): DeepSeek Harness + MCP + Python Tools coordinate bounded tool calls and deterministic workflows.     - Layer 4 — Intelligent Model Routing (Route): Projective + Model Registry + Task Classification + Resource‑Aware Scheduling choose the correct model for the job.     - Layer 5 — Local Inference (Infer): Gemma 4 E4B, Qwen 3.5 4B running via Ollama, llama.cpp and CUDA on on‑premise compute (8 GB VRAM).     - Layer 6 — Knowledge / Grounding (Ground): Local RAG + vector store supply versioned, permissioned evidence for verification and audit.   </a:t>
            </a:r>
            <a:endParaRPr lang="en-US" sz="1050" dirty="0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0ECCB1B9-D7F8-4978-3D05-F90CBD6473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26" y="6037560"/>
            <a:ext cx="134339" cy="10745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6B97DD2-58D5-F1F3-205F-F5F74E6F4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7764" y="1273585"/>
            <a:ext cx="4876925" cy="3661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HYPERION Component Details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34B482-458B-519D-3498-51A842A8D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D0CD4F0-4B9D-9EF0-C5E7-DF7B5542514D}"/>
              </a:ext>
            </a:extLst>
          </p:cNvPr>
          <p:cNvSpPr/>
          <p:nvPr/>
        </p:nvSpPr>
        <p:spPr>
          <a:xfrm>
            <a:off x="661475" y="693837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B4DB74F-496A-9E6B-9524-16F99F2DD13A}"/>
              </a:ext>
            </a:extLst>
          </p:cNvPr>
          <p:cNvSpPr/>
          <p:nvPr/>
        </p:nvSpPr>
        <p:spPr>
          <a:xfrm>
            <a:off x="3264414" y="147736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6F64866-8D61-5EF3-D053-A7B14FC827C5}"/>
              </a:ext>
            </a:extLst>
          </p:cNvPr>
          <p:cNvSpPr/>
          <p:nvPr/>
        </p:nvSpPr>
        <p:spPr>
          <a:xfrm>
            <a:off x="50799" y="1095375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Pipeline</a:t>
            </a:r>
            <a:endParaRPr lang="en-US" sz="1350" b="1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3CFAB85-CE37-DCEE-A111-AACA6AFFFAAE}"/>
              </a:ext>
            </a:extLst>
          </p:cNvPr>
          <p:cNvSpPr/>
          <p:nvPr/>
        </p:nvSpPr>
        <p:spPr>
          <a:xfrm>
            <a:off x="50799" y="1386582"/>
            <a:ext cx="5055565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GLM-OCR + Whisper.cpp + local document and image processing.         Function: Extracts text, tables, layouts, handwriting and audio transcripts.         Output/Capability: Structured local context (document object model, parsed tables, timestamped transcripts) that preserves provenance.       </a:t>
            </a:r>
            <a:endParaRPr lang="en-US" sz="11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30D62CD-E162-F5AB-7600-7C8F1C7D618B}"/>
              </a:ext>
            </a:extLst>
          </p:cNvPr>
          <p:cNvSpPr/>
          <p:nvPr/>
        </p:nvSpPr>
        <p:spPr>
          <a:xfrm>
            <a:off x="8758514" y="147736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EBC7DAB5-EAA1-26A3-E417-27CA86680E28}"/>
              </a:ext>
            </a:extLst>
          </p:cNvPr>
          <p:cNvSpPr/>
          <p:nvPr/>
        </p:nvSpPr>
        <p:spPr>
          <a:xfrm>
            <a:off x="50799" y="2299642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Router</a:t>
            </a:r>
            <a:endParaRPr lang="en-US" sz="1350" b="1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4213B1B2-6250-8608-0543-83425E97D200}"/>
              </a:ext>
            </a:extLst>
          </p:cNvPr>
          <p:cNvSpPr/>
          <p:nvPr/>
        </p:nvSpPr>
        <p:spPr>
          <a:xfrm>
            <a:off x="50799" y="2590849"/>
            <a:ext cx="5055565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Projective + Model Registry + Resource-Aware Scheduling.         Function: Select model by task type, modality, available compute and model capability.         Output/Capability: Task-specific inference selection guaranteeing execution within on‑premise compute constraints.       </a:t>
            </a:r>
            <a:endParaRPr lang="en-US" sz="11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655C671F-1DBB-2552-8CF2-72A6BE652512}"/>
              </a:ext>
            </a:extLst>
          </p:cNvPr>
          <p:cNvSpPr/>
          <p:nvPr/>
        </p:nvSpPr>
        <p:spPr>
          <a:xfrm>
            <a:off x="3264414" y="344209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7FE07415-9A94-2FC7-049D-E2DFA884461D}"/>
              </a:ext>
            </a:extLst>
          </p:cNvPr>
          <p:cNvSpPr/>
          <p:nvPr/>
        </p:nvSpPr>
        <p:spPr>
          <a:xfrm>
            <a:off x="115947" y="3494732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Inference Layer</a:t>
            </a:r>
            <a:endParaRPr lang="en-US" sz="1350" b="1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CC8E070D-984F-4939-0745-2DC5C2305051}"/>
              </a:ext>
            </a:extLst>
          </p:cNvPr>
          <p:cNvSpPr/>
          <p:nvPr/>
        </p:nvSpPr>
        <p:spPr>
          <a:xfrm>
            <a:off x="115947" y="3785939"/>
            <a:ext cx="5055565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Ollama + llama.cpp + CUDA + local open‑weight models (Gemma 4 E4B, Qwen 3.5 4B).         Function: Execute secure inference on devices with constrained VRAM (8 GB), using quantised models and runtime optimisations.         Output/Capability: Confidential, auditable inference results without a cloud-model path.       </a:t>
            </a:r>
            <a:endParaRPr lang="en-US" sz="11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6B3E6B15-30BD-D985-F26B-35DD0C46493F}"/>
              </a:ext>
            </a:extLst>
          </p:cNvPr>
          <p:cNvSpPr/>
          <p:nvPr/>
        </p:nvSpPr>
        <p:spPr>
          <a:xfrm>
            <a:off x="8758514" y="3442097"/>
            <a:ext cx="168668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6AE0B608-77FD-5F0E-0EE2-5C9B18D8AE33}"/>
              </a:ext>
            </a:extLst>
          </p:cNvPr>
          <p:cNvSpPr/>
          <p:nvPr/>
        </p:nvSpPr>
        <p:spPr>
          <a:xfrm>
            <a:off x="115947" y="4930521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Orchestrator</a:t>
            </a:r>
            <a:endParaRPr lang="en-US" sz="1350" b="1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A7D7BA0F-E4A8-C749-018E-DAC67876F021}"/>
              </a:ext>
            </a:extLst>
          </p:cNvPr>
          <p:cNvSpPr/>
          <p:nvPr/>
        </p:nvSpPr>
        <p:spPr>
          <a:xfrm>
            <a:off x="115947" y="5221728"/>
            <a:ext cx="5055565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Uses: DeepSeek Harness + MCP + Python Tools + Tool Gateway.         Function: Run bounded multi‑step analysis workflows, call deterministic tools (calculators, simulators), capture intermediate evidence.         Output/Capability: Reproducible analysis chains with attached evidence and structured outputs (calcs, code snippets, reports).       </a:t>
            </a:r>
            <a:endParaRPr lang="en-US" sz="11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C835BF3F-663B-4344-55E2-68A0977B516E}"/>
              </a:ext>
            </a:extLst>
          </p:cNvPr>
          <p:cNvSpPr/>
          <p:nvPr/>
        </p:nvSpPr>
        <p:spPr>
          <a:xfrm>
            <a:off x="661475" y="5748040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F4CB758-6E37-311C-E17D-CDF3A6E16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551" y="1229220"/>
            <a:ext cx="6468488" cy="490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Feasibility,Risks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&amp; </a:t>
            </a: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Migitations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2E0E258-DDD3-E45C-3665-206571BE14AA}"/>
              </a:ext>
            </a:extLst>
          </p:cNvPr>
          <p:cNvSpPr/>
          <p:nvPr/>
        </p:nvSpPr>
        <p:spPr>
          <a:xfrm>
            <a:off x="661475" y="47515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D2D0A6B-D335-7BF0-E7AC-F559846F232B}"/>
              </a:ext>
            </a:extLst>
          </p:cNvPr>
          <p:cNvSpPr/>
          <p:nvPr/>
        </p:nvSpPr>
        <p:spPr>
          <a:xfrm>
            <a:off x="6089498" y="965201"/>
            <a:ext cx="12700" cy="533390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F639E04-82DA-4B58-DD1A-448865916D25}"/>
              </a:ext>
            </a:extLst>
          </p:cNvPr>
          <p:cNvSpPr/>
          <p:nvPr/>
        </p:nvSpPr>
        <p:spPr>
          <a:xfrm>
            <a:off x="648775" y="965201"/>
            <a:ext cx="5434373" cy="1031180"/>
          </a:xfrm>
          <a:custGeom>
            <a:avLst/>
            <a:gdLst/>
            <a:ahLst/>
            <a:cxnLst/>
            <a:rect l="l" t="t" r="r" b="b"/>
            <a:pathLst>
              <a:path w="5434373" h="1031180">
                <a:moveTo>
                  <a:pt x="43415" y="0"/>
                </a:moveTo>
                <a:lnTo>
                  <a:pt x="5434373" y="0"/>
                </a:lnTo>
                <a:lnTo>
                  <a:pt x="5434373" y="1031180"/>
                </a:lnTo>
                <a:lnTo>
                  <a:pt x="43415" y="1031180"/>
                </a:lnTo>
                <a:arcTo wR="43415" hR="43416" stAng="5400000" swAng="5400000"/>
                <a:lnTo>
                  <a:pt x="0" y="43416"/>
                </a:lnTo>
                <a:arcTo wR="43415" hR="43416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31ADBD57-4AC9-A1AA-E2E2-8CA9ED4D1052}"/>
              </a:ext>
            </a:extLst>
          </p:cNvPr>
          <p:cNvSpPr/>
          <p:nvPr/>
        </p:nvSpPr>
        <p:spPr>
          <a:xfrm>
            <a:off x="779145" y="1179215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8C93310-A76C-3D16-AB18-6DB31522DF95}"/>
              </a:ext>
            </a:extLst>
          </p:cNvPr>
          <p:cNvSpPr/>
          <p:nvPr/>
        </p:nvSpPr>
        <p:spPr>
          <a:xfrm>
            <a:off x="779145" y="1428750"/>
            <a:ext cx="517998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The architecture leverages existing open-weight models and on‑prem inference runtimes optimised for 8 GB VRAM. Components (GLM-OCR, Whisper.cpp, Ollama, llama.cpp, vector DBs) are mature and integrable within an enterprise stack.       </a:t>
            </a:r>
            <a:endParaRPr lang="en-US" sz="95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DB5CD19-5B34-C401-8BFF-1F5B28B0E5DA}"/>
              </a:ext>
            </a:extLst>
          </p:cNvPr>
          <p:cNvSpPr/>
          <p:nvPr/>
        </p:nvSpPr>
        <p:spPr>
          <a:xfrm>
            <a:off x="6108547" y="2182417"/>
            <a:ext cx="5434373" cy="1096268"/>
          </a:xfrm>
          <a:custGeom>
            <a:avLst/>
            <a:gdLst/>
            <a:ahLst/>
            <a:cxnLst/>
            <a:rect l="l" t="t" r="r" b="b"/>
            <a:pathLst>
              <a:path w="5434373" h="1096268">
                <a:moveTo>
                  <a:pt x="0" y="0"/>
                </a:moveTo>
                <a:lnTo>
                  <a:pt x="5390957" y="0"/>
                </a:lnTo>
                <a:arcTo wR="43415" hR="43416" stAng="16200000" swAng="5400000"/>
                <a:lnTo>
                  <a:pt x="5434373" y="1052852"/>
                </a:lnTo>
                <a:arcTo wR="43415" hR="43416" stAng="0" swAng="5400000"/>
                <a:lnTo>
                  <a:pt x="0" y="109626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358500A-8B99-217E-8DED-F4E4589B6715}"/>
              </a:ext>
            </a:extLst>
          </p:cNvPr>
          <p:cNvSpPr/>
          <p:nvPr/>
        </p:nvSpPr>
        <p:spPr>
          <a:xfrm>
            <a:off x="6232568" y="2396430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Risks</a:t>
            </a:r>
            <a:endParaRPr lang="en-US" sz="1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6E138CAD-7496-19DC-13D1-CBE2E4FA22B9}"/>
              </a:ext>
            </a:extLst>
          </p:cNvPr>
          <p:cNvSpPr/>
          <p:nvPr/>
        </p:nvSpPr>
        <p:spPr>
          <a:xfrm>
            <a:off x="6232568" y="2645966"/>
            <a:ext cx="5179982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accuracy for domain-specific engineering language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limits causing latency on large multimodal tasks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provenance gaps from noisy inputs (handwriting, low-quality scans)</a:t>
            </a:r>
            <a:endParaRPr lang="en-US" sz="9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EB45C194-1D05-A9DD-E727-1E587112C292}"/>
              </a:ext>
            </a:extLst>
          </p:cNvPr>
          <p:cNvSpPr/>
          <p:nvPr/>
        </p:nvSpPr>
        <p:spPr>
          <a:xfrm>
            <a:off x="648775" y="3464720"/>
            <a:ext cx="5434373" cy="1617166"/>
          </a:xfrm>
          <a:custGeom>
            <a:avLst/>
            <a:gdLst/>
            <a:ahLst/>
            <a:cxnLst/>
            <a:rect l="l" t="t" r="r" b="b"/>
            <a:pathLst>
              <a:path w="5434373" h="1617166">
                <a:moveTo>
                  <a:pt x="43415" y="0"/>
                </a:moveTo>
                <a:lnTo>
                  <a:pt x="5434373" y="0"/>
                </a:lnTo>
                <a:lnTo>
                  <a:pt x="5434373" y="1617166"/>
                </a:lnTo>
                <a:lnTo>
                  <a:pt x="43415" y="1617166"/>
                </a:lnTo>
                <a:arcTo wR="43415" hR="43416" stAng="5400000" swAng="5400000"/>
                <a:lnTo>
                  <a:pt x="0" y="43416"/>
                </a:lnTo>
                <a:arcTo wR="43415" hR="43416" stAng="10800000" swAng="5400000"/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F4C15E8-E457-88DF-C2A2-58536B2318FE}"/>
              </a:ext>
            </a:extLst>
          </p:cNvPr>
          <p:cNvSpPr/>
          <p:nvPr/>
        </p:nvSpPr>
        <p:spPr>
          <a:xfrm>
            <a:off x="779145" y="3678734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Mitigations</a:t>
            </a:r>
            <a:endParaRPr lang="en-US" sz="12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A2D51277-8D07-458C-710B-891A95E0BE47}"/>
              </a:ext>
            </a:extLst>
          </p:cNvPr>
          <p:cNvSpPr/>
          <p:nvPr/>
        </p:nvSpPr>
        <p:spPr>
          <a:xfrm>
            <a:off x="779145" y="3928269"/>
            <a:ext cx="5179982" cy="11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 or adapter‑tune local models on industrial corpora; use task-specific small models for deterministic subtasks.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 performs resource-aware splitting: offload heavy offline processing to scheduled on‑prem batch nodes; prioritise low-latency tasks to lower-parameter models.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Signal quality scores from GLM-OCR/Whisper.cpp feed verification pipeline; flag low-confidence extractions for human review.</a:t>
            </a:r>
            <a:endParaRPr lang="en-US" sz="95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660AFB2C-3D1F-D5EF-28D6-4986C1985737}"/>
              </a:ext>
            </a:extLst>
          </p:cNvPr>
          <p:cNvSpPr/>
          <p:nvPr/>
        </p:nvSpPr>
        <p:spPr>
          <a:xfrm>
            <a:off x="6108547" y="5267922"/>
            <a:ext cx="5434373" cy="1031180"/>
          </a:xfrm>
          <a:custGeom>
            <a:avLst/>
            <a:gdLst/>
            <a:ahLst/>
            <a:cxnLst/>
            <a:rect l="l" t="t" r="r" b="b"/>
            <a:pathLst>
              <a:path w="5434373" h="1031180">
                <a:moveTo>
                  <a:pt x="0" y="0"/>
                </a:moveTo>
                <a:lnTo>
                  <a:pt x="5390957" y="0"/>
                </a:lnTo>
                <a:arcTo wR="43415" hR="43416" stAng="16200000" swAng="5400000"/>
                <a:lnTo>
                  <a:pt x="5434373" y="987764"/>
                </a:lnTo>
                <a:arcTo wR="43415" hR="43416" stAng="0" swAng="5400000"/>
                <a:lnTo>
                  <a:pt x="0" y="103118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4A7CA3F6-37FD-09D2-46D9-7A81E744344C}"/>
              </a:ext>
            </a:extLst>
          </p:cNvPr>
          <p:cNvSpPr/>
          <p:nvPr/>
        </p:nvSpPr>
        <p:spPr>
          <a:xfrm>
            <a:off x="6232568" y="5481935"/>
            <a:ext cx="517998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Considerations</a:t>
            </a:r>
            <a:endParaRPr lang="en-US" sz="12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242093E1-7CE1-4927-1935-00E0DD13DB3D}"/>
              </a:ext>
            </a:extLst>
          </p:cNvPr>
          <p:cNvSpPr/>
          <p:nvPr/>
        </p:nvSpPr>
        <p:spPr>
          <a:xfrm>
            <a:off x="6232568" y="5731470"/>
            <a:ext cx="517998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Deployment patterns: air‑gapped site installation, containerised runtimes, hardware profiles (8 GB VRAM edge nodes, optional clustered inference nodes). SecOps: role-based access, encrypted local storage, signed model bundles in the Model Registry.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9DE7233-4C2B-4871-E4F3-1C146C868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18466"/>
            <a:ext cx="12185522" cy="54643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8EEF496-1A43-3944-8612-BB24F8528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schemeClr val="bg1"/>
                </a:solidFill>
              </a:rPr>
              <a:t>@ HYPERION “Think Higher. Build Deeper.”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A654FE-2D60-1AD1-1B30-6BB050654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64453"/>
            <a:ext cx="2149026" cy="647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6DE44E-6392-1125-F597-35FDDAC429E1}"/>
              </a:ext>
            </a:extLst>
          </p:cNvPr>
          <p:cNvSpPr txBox="1"/>
          <p:nvPr/>
        </p:nvSpPr>
        <p:spPr>
          <a:xfrm>
            <a:off x="0" y="917626"/>
            <a:ext cx="978008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1. Agentic AI / Orchestration</a:t>
            </a:r>
          </a:p>
          <a:p>
            <a:pPr lvl="0"/>
            <a:r>
              <a:rPr lang="en-IN" sz="1200" b="1" dirty="0"/>
              <a:t>DeepSeek Harness:</a:t>
            </a:r>
            <a:r>
              <a:rPr lang="en-IN" sz="1200" dirty="0"/>
              <a:t> </a:t>
            </a:r>
            <a:r>
              <a:rPr lang="en-IN" sz="1200" dirty="0">
                <a:hlinkClick r:id="rId5"/>
              </a:rPr>
              <a:t>https://github.com/deepseek-ai/deepseek-harness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DeepSeek Harness Documentation:</a:t>
            </a:r>
            <a:r>
              <a:rPr lang="en-IN" sz="1200" dirty="0"/>
              <a:t> </a:t>
            </a:r>
            <a:r>
              <a:rPr lang="en-IN" sz="1200" dirty="0">
                <a:hlinkClick r:id="rId6"/>
              </a:rPr>
              <a:t>https://deepseek-harness.github.io/deepseek-harness/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Model Context Protocol (MCP):</a:t>
            </a:r>
            <a:r>
              <a:rPr lang="en-IN" sz="1200" dirty="0"/>
              <a:t> </a:t>
            </a:r>
            <a:r>
              <a:rPr lang="en-IN" sz="1200" dirty="0">
                <a:hlinkClick r:id="rId7"/>
              </a:rPr>
              <a:t>https://modelcontextprotocol.io/</a:t>
            </a:r>
            <a:r>
              <a:rPr lang="en-IN" sz="1200" dirty="0"/>
              <a:t> </a:t>
            </a:r>
          </a:p>
          <a:p>
            <a:r>
              <a:rPr lang="en-IN" sz="1200" b="1" dirty="0"/>
              <a:t>2. Local Models / Inference</a:t>
            </a:r>
          </a:p>
          <a:p>
            <a:pPr lvl="0"/>
            <a:r>
              <a:rPr lang="en-IN" sz="1200" b="1" dirty="0"/>
              <a:t>Gemma:</a:t>
            </a:r>
            <a:r>
              <a:rPr lang="en-IN" sz="1200" dirty="0"/>
              <a:t> </a:t>
            </a:r>
            <a:r>
              <a:rPr lang="en-IN" sz="1200" dirty="0">
                <a:hlinkClick r:id="rId8"/>
              </a:rPr>
              <a:t>https://ai.google.dev/gemma/docs/core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Qwen3.5 4B:</a:t>
            </a:r>
            <a:r>
              <a:rPr lang="en-IN" sz="1200" dirty="0"/>
              <a:t> </a:t>
            </a:r>
            <a:r>
              <a:rPr lang="en-IN" sz="1200" dirty="0">
                <a:hlinkClick r:id="rId9"/>
              </a:rPr>
              <a:t>https://huggingface.co/Qwen/Qwen3.5-4B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Ollama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10"/>
              </a:rPr>
              <a:t>https://ollama.com/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llama.cpp:</a:t>
            </a:r>
            <a:r>
              <a:rPr lang="en-IN" sz="1200" dirty="0"/>
              <a:t> </a:t>
            </a:r>
            <a:r>
              <a:rPr lang="en-IN" sz="1200" dirty="0">
                <a:hlinkClick r:id="rId11"/>
              </a:rPr>
              <a:t>https://github.com/ggml-org/llama.cpp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NVIDIA CUDA:</a:t>
            </a:r>
            <a:r>
              <a:rPr lang="en-IN" sz="1200" dirty="0"/>
              <a:t> </a:t>
            </a:r>
            <a:r>
              <a:rPr lang="en-IN" sz="1200" dirty="0">
                <a:hlinkClick r:id="rId12"/>
              </a:rPr>
              <a:t>https://developer.nvidia.com/cuda/</a:t>
            </a:r>
            <a:r>
              <a:rPr lang="en-IN" sz="1200" dirty="0"/>
              <a:t> </a:t>
            </a:r>
          </a:p>
          <a:p>
            <a:r>
              <a:rPr lang="en-IN" sz="1200" b="1" dirty="0"/>
              <a:t>3. Multimodal / Document Understanding</a:t>
            </a:r>
          </a:p>
          <a:p>
            <a:pPr lvl="0"/>
            <a:r>
              <a:rPr lang="en-IN" sz="1200" b="1" dirty="0"/>
              <a:t>GLM-OCR:</a:t>
            </a:r>
            <a:r>
              <a:rPr lang="en-IN" sz="1200" dirty="0"/>
              <a:t> </a:t>
            </a:r>
            <a:r>
              <a:rPr lang="en-IN" sz="1200" dirty="0">
                <a:hlinkClick r:id="rId13"/>
              </a:rPr>
              <a:t>https://github.com/zai-org/GLM-OCR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Whisper.cpp:</a:t>
            </a:r>
            <a:r>
              <a:rPr lang="en-IN" sz="1200" dirty="0"/>
              <a:t> </a:t>
            </a:r>
            <a:r>
              <a:rPr lang="en-IN" sz="1200" dirty="0">
                <a:hlinkClick r:id="rId14"/>
              </a:rPr>
              <a:t>https://github.com/ggml-org/whisper.cpp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AI4Bharat:</a:t>
            </a:r>
            <a:r>
              <a:rPr lang="en-IN" sz="1200" dirty="0"/>
              <a:t> </a:t>
            </a:r>
            <a:r>
              <a:rPr lang="en-IN" sz="1200" dirty="0">
                <a:hlinkClick r:id="rId15"/>
              </a:rPr>
              <a:t>https://ai4bharat.iitm.ac.in/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IndicConformer</a:t>
            </a:r>
            <a:r>
              <a:rPr lang="en-IN" sz="1200" b="1" dirty="0"/>
              <a:t>:</a:t>
            </a:r>
            <a:r>
              <a:rPr lang="en-IN" sz="1200" dirty="0"/>
              <a:t> https://github.com/AI4Bharat/IndicConformer </a:t>
            </a:r>
          </a:p>
          <a:p>
            <a:r>
              <a:rPr lang="en-IN" sz="1200" b="1" dirty="0"/>
              <a:t>4. Security / Sandboxed Execution</a:t>
            </a:r>
          </a:p>
          <a:p>
            <a:pPr lvl="0"/>
            <a:r>
              <a:rPr lang="en-IN" sz="1200" b="1" dirty="0"/>
              <a:t>NVIDIA </a:t>
            </a:r>
            <a:r>
              <a:rPr lang="en-IN" sz="1200" b="1" dirty="0" err="1"/>
              <a:t>OpenShell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16"/>
              </a:rPr>
              <a:t>https://github.com/NVIDIA/OpenShell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OpenShell</a:t>
            </a:r>
            <a:r>
              <a:rPr lang="en-IN" sz="1200" b="1" dirty="0"/>
              <a:t> Documentation:</a:t>
            </a:r>
            <a:r>
              <a:rPr lang="en-IN" sz="1200" dirty="0"/>
              <a:t> </a:t>
            </a:r>
            <a:r>
              <a:rPr lang="en-IN" sz="1200" dirty="0">
                <a:hlinkClick r:id="rId17"/>
              </a:rPr>
              <a:t>https://docs.nvidia.com/openshell/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 err="1"/>
              <a:t>OpenShell</a:t>
            </a:r>
            <a:r>
              <a:rPr lang="en-IN" sz="1200" b="1" dirty="0"/>
              <a:t> </a:t>
            </a:r>
            <a:r>
              <a:rPr lang="en-IN" sz="1200" b="1" dirty="0" err="1"/>
              <a:t>Quickstart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18"/>
              </a:rPr>
              <a:t>https://docs.nvidia.com/openshell/get-started/quickstart</a:t>
            </a:r>
            <a:r>
              <a:rPr lang="en-IN" sz="1200" dirty="0"/>
              <a:t> </a:t>
            </a:r>
          </a:p>
          <a:p>
            <a:r>
              <a:rPr lang="en-IN" sz="1200" b="1" dirty="0"/>
              <a:t>5. Knowledge / Evidence Grounding</a:t>
            </a:r>
          </a:p>
          <a:p>
            <a:pPr lvl="0"/>
            <a:r>
              <a:rPr lang="en-IN" sz="1200" b="1" dirty="0"/>
              <a:t>RAG:</a:t>
            </a:r>
            <a:r>
              <a:rPr lang="en-IN" sz="1200" dirty="0"/>
              <a:t> </a:t>
            </a:r>
            <a:r>
              <a:rPr lang="en-IN" sz="1200" dirty="0">
                <a:hlinkClick r:id="rId19"/>
              </a:rPr>
              <a:t>https://www.pinecone.io/learn/retrieval-augmented-generation/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FAISS:</a:t>
            </a:r>
            <a:r>
              <a:rPr lang="en-IN" sz="1200" dirty="0"/>
              <a:t> </a:t>
            </a:r>
            <a:r>
              <a:rPr lang="en-IN" sz="1200" dirty="0">
                <a:hlinkClick r:id="rId20"/>
              </a:rPr>
              <a:t>https://github.com/facebookresearch/faiss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Chroma:</a:t>
            </a:r>
            <a:r>
              <a:rPr lang="en-IN" sz="1200" dirty="0"/>
              <a:t> </a:t>
            </a:r>
            <a:r>
              <a:rPr lang="en-IN" sz="1200" dirty="0">
                <a:hlinkClick r:id="rId21"/>
              </a:rPr>
              <a:t>https://github.com/chroma-core/chroma</a:t>
            </a:r>
            <a:r>
              <a:rPr lang="en-IN" sz="1200" dirty="0"/>
              <a:t> </a:t>
            </a:r>
          </a:p>
          <a:p>
            <a:r>
              <a:rPr lang="en-IN" sz="1200" b="1" dirty="0"/>
              <a:t>6. Architecture / Routing Research</a:t>
            </a:r>
          </a:p>
          <a:p>
            <a:pPr lvl="0"/>
            <a:r>
              <a:rPr lang="en-IN" sz="1200" b="1" dirty="0"/>
              <a:t>Projective:</a:t>
            </a:r>
            <a:r>
              <a:rPr lang="en-IN" sz="1200" dirty="0"/>
              <a:t> https://github.com/projectivehq/projective </a:t>
            </a:r>
          </a:p>
          <a:p>
            <a:pPr lvl="0"/>
            <a:r>
              <a:rPr lang="en-IN" sz="1200" b="1" dirty="0"/>
              <a:t>Prime Agent:</a:t>
            </a:r>
            <a:r>
              <a:rPr lang="en-IN" sz="1200" dirty="0"/>
              <a:t> </a:t>
            </a:r>
            <a:r>
              <a:rPr lang="en-IN" sz="1200" dirty="0">
                <a:hlinkClick r:id="rId22"/>
              </a:rPr>
              <a:t>https://github.com/PrimeIntellect-ai/prime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Model Registry / </a:t>
            </a:r>
            <a:r>
              <a:rPr lang="en-IN" sz="1200" b="1" dirty="0" err="1"/>
              <a:t>MLflow</a:t>
            </a:r>
            <a:r>
              <a:rPr lang="en-IN" sz="1200" b="1" dirty="0"/>
              <a:t>:</a:t>
            </a:r>
            <a:r>
              <a:rPr lang="en-IN" sz="1200" dirty="0"/>
              <a:t> </a:t>
            </a:r>
            <a:r>
              <a:rPr lang="en-IN" sz="1200" dirty="0">
                <a:hlinkClick r:id="rId23"/>
              </a:rPr>
              <a:t>https://mlflow.org/docs/latest/ml/model-registry/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MCP:</a:t>
            </a:r>
            <a:r>
              <a:rPr lang="en-IN" sz="1200" dirty="0"/>
              <a:t> </a:t>
            </a:r>
            <a:r>
              <a:rPr lang="en-IN" sz="1200" dirty="0">
                <a:hlinkClick r:id="rId24"/>
              </a:rPr>
              <a:t>https://github.com/modelcontextprotocol/modelcontextprotocol</a:t>
            </a:r>
            <a:endParaRPr lang="en-IN" sz="1200" dirty="0"/>
          </a:p>
          <a:p>
            <a:pPr>
              <a:buNone/>
            </a:pPr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029916-795F-EE08-F367-722A23CA0C5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66853" y="1582993"/>
            <a:ext cx="6830560" cy="427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7759</TotalTime>
  <Words>1434</Words>
  <Application>Microsoft Office PowerPoint</Application>
  <PresentationFormat>Widescreen</PresentationFormat>
  <Paragraphs>116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Raleway</vt:lpstr>
      <vt:lpstr>Roboto</vt:lpstr>
      <vt:lpstr>Times New Roman</vt:lpstr>
      <vt:lpstr>TradeGothic</vt:lpstr>
      <vt:lpstr>Office Theme</vt:lpstr>
      <vt:lpstr>SMART INDIA HACKATHON 2026</vt:lpstr>
      <vt:lpstr> </vt:lpstr>
      <vt:lpstr>Technical Approach-Layered Architecture</vt:lpstr>
      <vt:lpstr>HYPERION Component Details</vt:lpstr>
      <vt:lpstr>Feasibility,Risks &amp; Migitations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golla narendar</cp:lastModifiedBy>
  <cp:revision>150</cp:revision>
  <dcterms:created xsi:type="dcterms:W3CDTF">2013-12-12T18:46:50Z</dcterms:created>
  <dcterms:modified xsi:type="dcterms:W3CDTF">2026-09-10T04:13:48Z</dcterms:modified>
  <cp:category/>
</cp:coreProperties>
</file>